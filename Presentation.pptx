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OpenSans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hu-H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2e48262e7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b2e48262e7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2e48262e7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b2e48262e7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24e3f0607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b24e3f0607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24e3f0607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b24e3f0607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24e3f0607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b24e3f0607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24e3f0607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b24e3f0607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24e3f0607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b24e3f0607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24e3f0607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b24e3f0607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24e3f0607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b24e3f0607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24e3f0607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b24e3f0607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2e48262e7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b2e48262e7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2e48262e7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b2e48262e7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2e48262e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b2e48262e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2e48262e7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b2e48262e7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2e48262e7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b2e48262e7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24e3f0607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b24e3f0607_0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tartalom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dia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zakaszfejléc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artalomrész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Összehasonlítás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sak cím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Üres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talomrész képaláírással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ép képaláírással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függőleges szöveg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üggőleges cím és szöveg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Relationship Id="rId4" Type="http://schemas.openxmlformats.org/officeDocument/2006/relationships/image" Target="../media/image11.gif"/><Relationship Id="rId5" Type="http://schemas.openxmlformats.org/officeDocument/2006/relationships/image" Target="../media/image10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723899" y="2317041"/>
            <a:ext cx="7365636" cy="2185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"/>
              <a:buNone/>
            </a:pPr>
            <a:r>
              <a:rPr lang="hu-HU" sz="6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Energy-Aware Multi-Agent Patrol Environment with Meta-Learning</a:t>
            </a:r>
            <a:endParaRPr b="0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800949" y="4794709"/>
            <a:ext cx="7365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Open Sans"/>
              <a:buNone/>
            </a:pPr>
            <a:r>
              <a:rPr lang="hu-HU" sz="2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Made by :</a:t>
            </a:r>
            <a:endParaRPr/>
          </a:p>
          <a:p>
            <a:pPr indent="-317500" lvl="0" marL="45720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-"/>
            </a:pPr>
            <a:r>
              <a:rPr b="0" i="0" lang="hu-HU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Hadj Sassi E</a:t>
            </a:r>
            <a:r>
              <a:rPr lang="hu-HU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men </a:t>
            </a:r>
            <a:endParaRPr b="0" i="0" sz="1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-"/>
            </a:pPr>
            <a:r>
              <a:rPr lang="hu-HU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Vizi Márk</a:t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07608"/>
            <a:ext cx="12192000" cy="85039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38200" y="399495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rgbClr val="012851"/>
                </a:solidFill>
                <a:latin typeface="Open Sans"/>
                <a:ea typeface="Open Sans"/>
                <a:cs typeface="Open Sans"/>
                <a:sym typeface="Open Sans"/>
              </a:rPr>
              <a:t>Motivation &amp; Research Questions :</a:t>
            </a:r>
            <a:endParaRPr/>
          </a:p>
        </p:txBody>
      </p:sp>
      <p:cxnSp>
        <p:nvCxnSpPr>
          <p:cNvPr id="97" name="Google Shape;97;p14"/>
          <p:cNvCxnSpPr/>
          <p:nvPr/>
        </p:nvCxnSpPr>
        <p:spPr>
          <a:xfrm>
            <a:off x="838200" y="1145220"/>
            <a:ext cx="10676138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" name="Google Shape;98;p14"/>
          <p:cNvSpPr txBox="1"/>
          <p:nvPr/>
        </p:nvSpPr>
        <p:spPr>
          <a:xfrm>
            <a:off x="807175" y="1403465"/>
            <a:ext cx="107382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>
                <a:solidFill>
                  <a:schemeClr val="dk1"/>
                </a:solidFill>
              </a:rPr>
              <a:t>Standard MPE environments allow unlimited movement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>
                <a:solidFill>
                  <a:schemeClr val="dk1"/>
                </a:solidFill>
              </a:rPr>
              <a:t>Agents often learn unrealistic high-speed behaviors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>
                <a:solidFill>
                  <a:schemeClr val="dk1"/>
                </a:solidFill>
              </a:rPr>
              <a:t>No long-term planning or resource management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>
                <a:solidFill>
                  <a:schemeClr val="dk1"/>
                </a:solidFill>
              </a:rPr>
              <a:t>Can agents learn </a:t>
            </a:r>
            <a:r>
              <a:rPr lang="hu-HU" sz="2000" u="sng">
                <a:solidFill>
                  <a:schemeClr val="dk1"/>
                </a:solidFill>
              </a:rPr>
              <a:t>energy-aware patrolling strategies</a:t>
            </a:r>
            <a:r>
              <a:rPr lang="hu-HU" sz="2000">
                <a:solidFill>
                  <a:schemeClr val="dk1"/>
                </a:solidFill>
              </a:rPr>
              <a:t>?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>
                <a:solidFill>
                  <a:schemeClr val="dk1"/>
                </a:solidFill>
              </a:rPr>
              <a:t>Can agents </a:t>
            </a:r>
            <a:r>
              <a:rPr lang="hu-HU" sz="2000" u="sng">
                <a:solidFill>
                  <a:schemeClr val="dk1"/>
                </a:solidFill>
              </a:rPr>
              <a:t>adapt quickly to unseen maps</a:t>
            </a:r>
            <a:r>
              <a:rPr lang="hu-HU" sz="2000">
                <a:solidFill>
                  <a:schemeClr val="dk1"/>
                </a:solidFill>
              </a:rPr>
              <a:t>?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hu-HU" sz="2000">
                <a:solidFill>
                  <a:schemeClr val="dk1"/>
                </a:solidFill>
              </a:rPr>
              <a:t>Does </a:t>
            </a:r>
            <a:r>
              <a:rPr lang="hu-HU" sz="2000" u="sng">
                <a:solidFill>
                  <a:schemeClr val="dk1"/>
                </a:solidFill>
              </a:rPr>
              <a:t>memory-based meta-learning</a:t>
            </a:r>
            <a:r>
              <a:rPr lang="hu-HU" sz="2000">
                <a:solidFill>
                  <a:schemeClr val="dk1"/>
                </a:solidFill>
              </a:rPr>
              <a:t> improve generalization?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</a:rPr>
              <a:t>⇒ </a:t>
            </a:r>
            <a:r>
              <a:rPr lang="hu-HU" sz="2000">
                <a:solidFill>
                  <a:schemeClr val="dk1"/>
                </a:solidFill>
              </a:rPr>
              <a:t>Goal: introduce realism and adaptability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07608"/>
            <a:ext cx="12191999" cy="8503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15"/>
          <p:cNvCxnSpPr/>
          <p:nvPr/>
        </p:nvCxnSpPr>
        <p:spPr>
          <a:xfrm>
            <a:off x="838200" y="1145220"/>
            <a:ext cx="10676100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5"/>
          <p:cNvSpPr txBox="1"/>
          <p:nvPr/>
        </p:nvSpPr>
        <p:spPr>
          <a:xfrm>
            <a:off x="807175" y="1403465"/>
            <a:ext cx="107382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The original environment was not stable enough for learning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Training failures were caused by dependency and version conflicts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6" name="Google Shape;106;p15"/>
          <p:cNvCxnSpPr/>
          <p:nvPr/>
        </p:nvCxnSpPr>
        <p:spPr>
          <a:xfrm>
            <a:off x="838200" y="1145220"/>
            <a:ext cx="10676100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" name="Google Shape;107;p15"/>
          <p:cNvSpPr txBox="1"/>
          <p:nvPr/>
        </p:nvSpPr>
        <p:spPr>
          <a:xfrm>
            <a:off x="918450" y="360970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rgbClr val="012851"/>
                </a:solidFill>
                <a:latin typeface="Open Sans"/>
                <a:ea typeface="Open Sans"/>
                <a:cs typeface="Open Sans"/>
                <a:sym typeface="Open Sans"/>
              </a:rPr>
              <a:t>Initial Environment State :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07608"/>
            <a:ext cx="12191999" cy="8503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p16"/>
          <p:cNvCxnSpPr/>
          <p:nvPr/>
        </p:nvCxnSpPr>
        <p:spPr>
          <a:xfrm>
            <a:off x="838200" y="1145220"/>
            <a:ext cx="10676100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16"/>
          <p:cNvSpPr txBox="1"/>
          <p:nvPr/>
        </p:nvSpPr>
        <p:spPr>
          <a:xfrm>
            <a:off x="807150" y="1222271"/>
            <a:ext cx="10738200" cy="59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Key Fixes Applied: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hu-HU" sz="2000">
                <a:solidFill>
                  <a:schemeClr val="dk1"/>
                </a:solidFill>
              </a:rPr>
              <a:t>Docker containerization for reproducibility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hu-HU" sz="2000">
                <a:solidFill>
                  <a:schemeClr val="dk1"/>
                </a:solidFill>
              </a:rPr>
              <a:t>Fixed single-core execution for debugging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hu-HU" sz="2000">
                <a:solidFill>
                  <a:schemeClr val="dk1"/>
                </a:solidFill>
              </a:rPr>
              <a:t>Resolved NaN observations caused by agent overlap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hu-HU" sz="2000">
                <a:solidFill>
                  <a:schemeClr val="dk1"/>
                </a:solidFill>
              </a:rPr>
              <a:t>Fixed missing energy station spawning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hu-HU" sz="2000">
                <a:solidFill>
                  <a:schemeClr val="dk1"/>
                </a:solidFill>
              </a:rPr>
              <a:t>Corrected collision handling to prevent overlap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</a:rPr>
              <a:t>⇒ Environment dynamics became stable and consistent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918450" y="360970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rgbClr val="012851"/>
                </a:solidFill>
                <a:latin typeface="Open Sans"/>
                <a:ea typeface="Open Sans"/>
                <a:cs typeface="Open Sans"/>
                <a:sym typeface="Open Sans"/>
              </a:rPr>
              <a:t>Engineering &amp; Environment Stabilization : 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07608"/>
            <a:ext cx="12191999" cy="85039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838200" y="399495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rgbClr val="012851"/>
                </a:solidFill>
                <a:latin typeface="Open Sans"/>
                <a:ea typeface="Open Sans"/>
                <a:cs typeface="Open Sans"/>
                <a:sym typeface="Open Sans"/>
              </a:rPr>
              <a:t>Environment Overview :</a:t>
            </a:r>
            <a:endParaRPr/>
          </a:p>
        </p:txBody>
      </p:sp>
      <p:cxnSp>
        <p:nvCxnSpPr>
          <p:cNvPr id="122" name="Google Shape;122;p17"/>
          <p:cNvCxnSpPr/>
          <p:nvPr/>
        </p:nvCxnSpPr>
        <p:spPr>
          <a:xfrm>
            <a:off x="838200" y="1145220"/>
            <a:ext cx="10676100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17"/>
          <p:cNvSpPr txBox="1"/>
          <p:nvPr/>
        </p:nvSpPr>
        <p:spPr>
          <a:xfrm>
            <a:off x="838200" y="1544715"/>
            <a:ext cx="107382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807175" y="1403465"/>
            <a:ext cx="10738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Patroller vs intruder scenario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Continuous 2D navigation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Procedurally generated maps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Obstacles, goal, energy stations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07608"/>
            <a:ext cx="12191999" cy="85039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838200" y="399495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rgbClr val="012851"/>
                </a:solidFill>
                <a:latin typeface="Open Sans"/>
                <a:ea typeface="Open Sans"/>
                <a:cs typeface="Open Sans"/>
                <a:sym typeface="Open Sans"/>
              </a:rPr>
              <a:t>Energy-Aware Design (Method)</a:t>
            </a:r>
            <a:endParaRPr/>
          </a:p>
        </p:txBody>
      </p:sp>
      <p:cxnSp>
        <p:nvCxnSpPr>
          <p:cNvPr id="131" name="Google Shape;131;p18"/>
          <p:cNvCxnSpPr/>
          <p:nvPr/>
        </p:nvCxnSpPr>
        <p:spPr>
          <a:xfrm>
            <a:off x="838200" y="1145220"/>
            <a:ext cx="10676100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8"/>
          <p:cNvSpPr txBox="1"/>
          <p:nvPr/>
        </p:nvSpPr>
        <p:spPr>
          <a:xfrm>
            <a:off x="838200" y="1544715"/>
            <a:ext cx="107382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807175" y="1403465"/>
            <a:ext cx="10738200" cy="4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Patrollers have limited energy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Energy drain proportional to velocity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Zero energy ⇒ agent immobilized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Recharging at energy stations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</a:rPr>
              <a:t>⇒ Transforms movement into a strategic decision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07608"/>
            <a:ext cx="12191999" cy="85039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 txBox="1"/>
          <p:nvPr/>
        </p:nvSpPr>
        <p:spPr>
          <a:xfrm>
            <a:off x="838200" y="399495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rgbClr val="012851"/>
                </a:solidFill>
                <a:latin typeface="Open Sans"/>
                <a:ea typeface="Open Sans"/>
                <a:cs typeface="Open Sans"/>
                <a:sym typeface="Open Sans"/>
              </a:rPr>
              <a:t>Partial Observability</a:t>
            </a:r>
            <a:endParaRPr/>
          </a:p>
        </p:txBody>
      </p:sp>
      <p:cxnSp>
        <p:nvCxnSpPr>
          <p:cNvPr id="140" name="Google Shape;140;p19"/>
          <p:cNvCxnSpPr/>
          <p:nvPr/>
        </p:nvCxnSpPr>
        <p:spPr>
          <a:xfrm>
            <a:off x="838200" y="1145220"/>
            <a:ext cx="10676100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" name="Google Shape;141;p19"/>
          <p:cNvSpPr txBox="1"/>
          <p:nvPr/>
        </p:nvSpPr>
        <p:spPr>
          <a:xfrm>
            <a:off x="838200" y="1544715"/>
            <a:ext cx="107382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807175" y="1403465"/>
            <a:ext cx="10738200" cy="4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Limited sensing range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Line-of-sight blocked by obstacles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No global map information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Sensor noise added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</a:rPr>
              <a:t>⇒ Prevents unrealistic optimal behavior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07608"/>
            <a:ext cx="12191999" cy="85039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838200" y="399495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rgbClr val="012851"/>
                </a:solidFill>
                <a:latin typeface="Open Sans"/>
                <a:ea typeface="Open Sans"/>
                <a:cs typeface="Open Sans"/>
                <a:sym typeface="Open Sans"/>
              </a:rPr>
              <a:t>Meta-Learning Approach</a:t>
            </a:r>
            <a:endParaRPr/>
          </a:p>
        </p:txBody>
      </p:sp>
      <p:cxnSp>
        <p:nvCxnSpPr>
          <p:cNvPr id="149" name="Google Shape;149;p20"/>
          <p:cNvCxnSpPr/>
          <p:nvPr/>
        </p:nvCxnSpPr>
        <p:spPr>
          <a:xfrm>
            <a:off x="838200" y="1145220"/>
            <a:ext cx="10676100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0" name="Google Shape;150;p20"/>
          <p:cNvSpPr txBox="1"/>
          <p:nvPr/>
        </p:nvSpPr>
        <p:spPr>
          <a:xfrm>
            <a:off x="838200" y="1544715"/>
            <a:ext cx="107382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807175" y="1403465"/>
            <a:ext cx="10738200" cy="4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RL²-style meta-learning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Recurrent PPO with LSTM policy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Memory persists within episodes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No explicit map encoding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</a:rPr>
              <a:t>⇒ </a:t>
            </a:r>
            <a:r>
              <a:rPr lang="hu-HU" sz="2000">
                <a:solidFill>
                  <a:schemeClr val="dk1"/>
                </a:solidFill>
              </a:rPr>
              <a:t>Adaptation emerges from experience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07608"/>
            <a:ext cx="12191999" cy="85039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1"/>
          <p:cNvSpPr txBox="1"/>
          <p:nvPr/>
        </p:nvSpPr>
        <p:spPr>
          <a:xfrm>
            <a:off x="838200" y="399495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rgbClr val="012851"/>
                </a:solidFill>
                <a:latin typeface="Open Sans"/>
                <a:ea typeface="Open Sans"/>
                <a:cs typeface="Open Sans"/>
                <a:sym typeface="Open Sans"/>
              </a:rPr>
              <a:t> Training Setup</a:t>
            </a:r>
            <a:endParaRPr/>
          </a:p>
        </p:txBody>
      </p:sp>
      <p:cxnSp>
        <p:nvCxnSpPr>
          <p:cNvPr id="158" name="Google Shape;158;p21"/>
          <p:cNvCxnSpPr/>
          <p:nvPr/>
        </p:nvCxnSpPr>
        <p:spPr>
          <a:xfrm>
            <a:off x="838200" y="1145220"/>
            <a:ext cx="10676100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9" name="Google Shape;159;p21"/>
          <p:cNvSpPr txBox="1"/>
          <p:nvPr/>
        </p:nvSpPr>
        <p:spPr>
          <a:xfrm>
            <a:off x="838200" y="1544715"/>
            <a:ext cx="107382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807175" y="1403465"/>
            <a:ext cx="10738200" cy="4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Parallel environments with different seeds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New map sampled at each reset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Energy stations &amp; obstacles randomized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Encourages general strategies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1" name="Google Shape;16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7100" y="1218975"/>
            <a:ext cx="3895725" cy="47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07608"/>
            <a:ext cx="12191999" cy="85039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 txBox="1"/>
          <p:nvPr/>
        </p:nvSpPr>
        <p:spPr>
          <a:xfrm>
            <a:off x="838200" y="399495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rgbClr val="012851"/>
                </a:solidFill>
                <a:latin typeface="Open Sans"/>
                <a:ea typeface="Open Sans"/>
                <a:cs typeface="Open Sans"/>
                <a:sym typeface="Open Sans"/>
              </a:rPr>
              <a:t>Metrics</a:t>
            </a:r>
            <a:endParaRPr/>
          </a:p>
        </p:txBody>
      </p:sp>
      <p:cxnSp>
        <p:nvCxnSpPr>
          <p:cNvPr id="168" name="Google Shape;168;p22"/>
          <p:cNvCxnSpPr/>
          <p:nvPr/>
        </p:nvCxnSpPr>
        <p:spPr>
          <a:xfrm>
            <a:off x="838200" y="1145220"/>
            <a:ext cx="10676100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9" name="Google Shape;169;p22"/>
          <p:cNvSpPr txBox="1"/>
          <p:nvPr/>
        </p:nvSpPr>
        <p:spPr>
          <a:xfrm>
            <a:off x="838200" y="1544715"/>
            <a:ext cx="107382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807175" y="1403465"/>
            <a:ext cx="10738200" cy="47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Average episode reward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Win rate (intruder caught)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Time to capture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Episode length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07608"/>
            <a:ext cx="12191999" cy="85039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 txBox="1"/>
          <p:nvPr/>
        </p:nvSpPr>
        <p:spPr>
          <a:xfrm>
            <a:off x="838200" y="399495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rgbClr val="012851"/>
                </a:solidFill>
                <a:latin typeface="Open Sans"/>
                <a:ea typeface="Open Sans"/>
                <a:cs typeface="Open Sans"/>
                <a:sym typeface="Open Sans"/>
              </a:rPr>
              <a:t>Results (Unseen Maps)</a:t>
            </a:r>
            <a:endParaRPr/>
          </a:p>
        </p:txBody>
      </p:sp>
      <p:cxnSp>
        <p:nvCxnSpPr>
          <p:cNvPr id="177" name="Google Shape;177;p23"/>
          <p:cNvCxnSpPr/>
          <p:nvPr/>
        </p:nvCxnSpPr>
        <p:spPr>
          <a:xfrm>
            <a:off x="838200" y="1145220"/>
            <a:ext cx="10676100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p23"/>
          <p:cNvSpPr txBox="1"/>
          <p:nvPr/>
        </p:nvSpPr>
        <p:spPr>
          <a:xfrm>
            <a:off x="838200" y="1544715"/>
            <a:ext cx="107382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807175" y="1403465"/>
            <a:ext cx="10738200" cy="4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Evaluated on 15 unseen maps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Average reward: </a:t>
            </a:r>
            <a:r>
              <a:rPr b="1" lang="hu-HU" sz="2000">
                <a:solidFill>
                  <a:schemeClr val="dk1"/>
                </a:solidFill>
              </a:rPr>
              <a:t>471.56</a:t>
            </a:r>
            <a:br>
              <a:rPr b="1" lang="hu-HU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Win rate: </a:t>
            </a:r>
            <a:r>
              <a:rPr b="1" lang="hu-HU" sz="2000">
                <a:solidFill>
                  <a:schemeClr val="dk1"/>
                </a:solidFill>
              </a:rPr>
              <a:t>66.7%</a:t>
            </a:r>
            <a:br>
              <a:rPr b="1" lang="hu-HU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Stable behavior without retraining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0" name="Google Shape;18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4825" y="3901400"/>
            <a:ext cx="9962341" cy="196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07608"/>
            <a:ext cx="12191999" cy="85039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/>
        </p:nvSpPr>
        <p:spPr>
          <a:xfrm>
            <a:off x="838200" y="399495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rgbClr val="012851"/>
                </a:solidFill>
                <a:latin typeface="Open Sans"/>
                <a:ea typeface="Open Sans"/>
                <a:cs typeface="Open Sans"/>
                <a:sym typeface="Open Sans"/>
              </a:rPr>
              <a:t>Plots </a:t>
            </a:r>
            <a:endParaRPr/>
          </a:p>
        </p:txBody>
      </p:sp>
      <p:cxnSp>
        <p:nvCxnSpPr>
          <p:cNvPr id="187" name="Google Shape;187;p24"/>
          <p:cNvCxnSpPr/>
          <p:nvPr/>
        </p:nvCxnSpPr>
        <p:spPr>
          <a:xfrm>
            <a:off x="838200" y="1145220"/>
            <a:ext cx="10676100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8" name="Google Shape;188;p24"/>
          <p:cNvSpPr txBox="1"/>
          <p:nvPr/>
        </p:nvSpPr>
        <p:spPr>
          <a:xfrm>
            <a:off x="838200" y="1544715"/>
            <a:ext cx="107382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807175" y="1403465"/>
            <a:ext cx="10738200" cy="2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0" name="Google Shape;19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9100" y="1289542"/>
            <a:ext cx="4573789" cy="4573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07608"/>
            <a:ext cx="12191999" cy="85039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/>
        </p:nvSpPr>
        <p:spPr>
          <a:xfrm>
            <a:off x="838200" y="399495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rgbClr val="012851"/>
                </a:solidFill>
                <a:latin typeface="Open Sans"/>
                <a:ea typeface="Open Sans"/>
                <a:cs typeface="Open Sans"/>
                <a:sym typeface="Open Sans"/>
              </a:rPr>
              <a:t>Plots </a:t>
            </a:r>
            <a:endParaRPr/>
          </a:p>
        </p:txBody>
      </p:sp>
      <p:cxnSp>
        <p:nvCxnSpPr>
          <p:cNvPr id="197" name="Google Shape;197;p25"/>
          <p:cNvCxnSpPr/>
          <p:nvPr/>
        </p:nvCxnSpPr>
        <p:spPr>
          <a:xfrm>
            <a:off x="838200" y="1145220"/>
            <a:ext cx="10676100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8" name="Google Shape;198;p25"/>
          <p:cNvSpPr txBox="1"/>
          <p:nvPr/>
        </p:nvSpPr>
        <p:spPr>
          <a:xfrm>
            <a:off x="838200" y="1544715"/>
            <a:ext cx="107382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5"/>
          <p:cNvSpPr txBox="1"/>
          <p:nvPr/>
        </p:nvSpPr>
        <p:spPr>
          <a:xfrm>
            <a:off x="807175" y="1403465"/>
            <a:ext cx="10738200" cy="2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0" name="Google Shape;20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1850" y="1221416"/>
            <a:ext cx="7848750" cy="470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07608"/>
            <a:ext cx="12191999" cy="85039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6"/>
          <p:cNvSpPr txBox="1"/>
          <p:nvPr/>
        </p:nvSpPr>
        <p:spPr>
          <a:xfrm>
            <a:off x="838200" y="399495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rgbClr val="012851"/>
                </a:solidFill>
                <a:latin typeface="Open Sans"/>
                <a:ea typeface="Open Sans"/>
                <a:cs typeface="Open Sans"/>
                <a:sym typeface="Open Sans"/>
              </a:rPr>
              <a:t>Plots </a:t>
            </a:r>
            <a:endParaRPr/>
          </a:p>
        </p:txBody>
      </p:sp>
      <p:cxnSp>
        <p:nvCxnSpPr>
          <p:cNvPr id="207" name="Google Shape;207;p26"/>
          <p:cNvCxnSpPr/>
          <p:nvPr/>
        </p:nvCxnSpPr>
        <p:spPr>
          <a:xfrm>
            <a:off x="838200" y="1145220"/>
            <a:ext cx="10676100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8" name="Google Shape;208;p26"/>
          <p:cNvSpPr txBox="1"/>
          <p:nvPr/>
        </p:nvSpPr>
        <p:spPr>
          <a:xfrm>
            <a:off x="838200" y="1544715"/>
            <a:ext cx="107382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807175" y="1403465"/>
            <a:ext cx="10738200" cy="2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0" name="Google Shape;21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0588" y="1221416"/>
            <a:ext cx="5910832" cy="47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07608"/>
            <a:ext cx="12191999" cy="85039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7"/>
          <p:cNvSpPr txBox="1"/>
          <p:nvPr/>
        </p:nvSpPr>
        <p:spPr>
          <a:xfrm>
            <a:off x="838200" y="399495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rgbClr val="012851"/>
                </a:solidFill>
                <a:latin typeface="Open Sans"/>
                <a:ea typeface="Open Sans"/>
                <a:cs typeface="Open Sans"/>
                <a:sym typeface="Open Sans"/>
              </a:rPr>
              <a:t>Plots </a:t>
            </a:r>
            <a:endParaRPr/>
          </a:p>
        </p:txBody>
      </p:sp>
      <p:cxnSp>
        <p:nvCxnSpPr>
          <p:cNvPr id="217" name="Google Shape;217;p27"/>
          <p:cNvCxnSpPr/>
          <p:nvPr/>
        </p:nvCxnSpPr>
        <p:spPr>
          <a:xfrm>
            <a:off x="838200" y="1145220"/>
            <a:ext cx="10676100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8" name="Google Shape;218;p27"/>
          <p:cNvSpPr txBox="1"/>
          <p:nvPr/>
        </p:nvSpPr>
        <p:spPr>
          <a:xfrm>
            <a:off x="838200" y="1544715"/>
            <a:ext cx="107382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807175" y="1403465"/>
            <a:ext cx="10738200" cy="2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0" name="Google Shape;22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7225" y="1350542"/>
            <a:ext cx="7418399" cy="445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07608"/>
            <a:ext cx="12191999" cy="85039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8"/>
          <p:cNvSpPr txBox="1"/>
          <p:nvPr/>
        </p:nvSpPr>
        <p:spPr>
          <a:xfrm>
            <a:off x="838200" y="399495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rgbClr val="012851"/>
                </a:solidFill>
                <a:latin typeface="Open Sans"/>
                <a:ea typeface="Open Sans"/>
                <a:cs typeface="Open Sans"/>
                <a:sym typeface="Open Sans"/>
              </a:rPr>
              <a:t>Plots </a:t>
            </a:r>
            <a:endParaRPr/>
          </a:p>
        </p:txBody>
      </p:sp>
      <p:cxnSp>
        <p:nvCxnSpPr>
          <p:cNvPr id="227" name="Google Shape;227;p28"/>
          <p:cNvCxnSpPr/>
          <p:nvPr/>
        </p:nvCxnSpPr>
        <p:spPr>
          <a:xfrm>
            <a:off x="838200" y="1145220"/>
            <a:ext cx="10676100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8" name="Google Shape;228;p28"/>
          <p:cNvSpPr txBox="1"/>
          <p:nvPr/>
        </p:nvSpPr>
        <p:spPr>
          <a:xfrm>
            <a:off x="838200" y="1544715"/>
            <a:ext cx="107382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28"/>
          <p:cNvSpPr txBox="1"/>
          <p:nvPr/>
        </p:nvSpPr>
        <p:spPr>
          <a:xfrm>
            <a:off x="807175" y="1403465"/>
            <a:ext cx="10738200" cy="2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0" name="Google Shape;23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6238" y="1284192"/>
            <a:ext cx="7639532" cy="458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07608"/>
            <a:ext cx="12191999" cy="85039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9"/>
          <p:cNvSpPr txBox="1"/>
          <p:nvPr/>
        </p:nvSpPr>
        <p:spPr>
          <a:xfrm>
            <a:off x="838200" y="399495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rgbClr val="012851"/>
                </a:solidFill>
                <a:latin typeface="Open Sans"/>
                <a:ea typeface="Open Sans"/>
                <a:cs typeface="Open Sans"/>
                <a:sym typeface="Open Sans"/>
              </a:rPr>
              <a:t>Gifs</a:t>
            </a:r>
            <a:endParaRPr sz="36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7" name="Google Shape;237;p29"/>
          <p:cNvCxnSpPr/>
          <p:nvPr/>
        </p:nvCxnSpPr>
        <p:spPr>
          <a:xfrm>
            <a:off x="838200" y="1145220"/>
            <a:ext cx="10676100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8" name="Google Shape;238;p29"/>
          <p:cNvSpPr txBox="1"/>
          <p:nvPr/>
        </p:nvSpPr>
        <p:spPr>
          <a:xfrm>
            <a:off x="838200" y="1544715"/>
            <a:ext cx="107382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9" name="Google Shape;23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5723" y="1365029"/>
            <a:ext cx="4447898" cy="4447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3215" y="1433722"/>
            <a:ext cx="4310510" cy="431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07608"/>
            <a:ext cx="12191999" cy="85039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0"/>
          <p:cNvSpPr txBox="1"/>
          <p:nvPr/>
        </p:nvSpPr>
        <p:spPr>
          <a:xfrm>
            <a:off x="838200" y="399495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rgbClr val="012851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  <a:endParaRPr/>
          </a:p>
        </p:txBody>
      </p:sp>
      <p:cxnSp>
        <p:nvCxnSpPr>
          <p:cNvPr id="247" name="Google Shape;247;p30"/>
          <p:cNvCxnSpPr/>
          <p:nvPr/>
        </p:nvCxnSpPr>
        <p:spPr>
          <a:xfrm>
            <a:off x="838200" y="1145220"/>
            <a:ext cx="10676100" cy="0"/>
          </a:xfrm>
          <a:prstGeom prst="straightConnector1">
            <a:avLst/>
          </a:prstGeom>
          <a:noFill/>
          <a:ln cap="flat" cmpd="sng" w="9525">
            <a:solidFill>
              <a:srgbClr val="0128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8" name="Google Shape;248;p30"/>
          <p:cNvSpPr txBox="1"/>
          <p:nvPr/>
        </p:nvSpPr>
        <p:spPr>
          <a:xfrm>
            <a:off x="838200" y="1544715"/>
            <a:ext cx="107382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30"/>
          <p:cNvSpPr txBox="1"/>
          <p:nvPr/>
        </p:nvSpPr>
        <p:spPr>
          <a:xfrm>
            <a:off x="807175" y="1403465"/>
            <a:ext cx="10738200" cy="2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p30"/>
          <p:cNvSpPr txBox="1"/>
          <p:nvPr/>
        </p:nvSpPr>
        <p:spPr>
          <a:xfrm>
            <a:off x="807175" y="1992175"/>
            <a:ext cx="107382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Energy constraints transform movement into a strategic decision and improve realism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Recurrent meta-learning enables fast adaptation to unseen, procedurally generated maps</a:t>
            </a: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hu-HU" sz="2000">
                <a:solidFill>
                  <a:schemeClr val="dk1"/>
                </a:solidFill>
              </a:rPr>
              <a:t>The proposed environment supports robust evaluation of generalization and adaptive behavior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hu-H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128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1"/>
          <p:cNvSpPr txBox="1"/>
          <p:nvPr/>
        </p:nvSpPr>
        <p:spPr>
          <a:xfrm>
            <a:off x="723899" y="2256492"/>
            <a:ext cx="8963440" cy="2185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"/>
              <a:buNone/>
            </a:pPr>
            <a:r>
              <a:rPr lang="hu-HU" sz="3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Thank you for your attention!</a:t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-té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é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